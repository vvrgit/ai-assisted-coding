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05" r:id="rId3"/>
    <p:sldId id="307" r:id="rId4"/>
    <p:sldId id="308" r:id="rId5"/>
    <p:sldId id="309" r:id="rId6"/>
    <p:sldId id="310" r:id="rId7"/>
    <p:sldId id="311" r:id="rId8"/>
    <p:sldId id="3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E91"/>
    <a:srgbClr val="164F8F"/>
    <a:srgbClr val="D1DAFF"/>
    <a:srgbClr val="FFFFFF"/>
    <a:srgbClr val="184F90"/>
    <a:srgbClr val="105498"/>
    <a:srgbClr val="18509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25" autoAdjust="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BA0C7-BE67-48D5-BD35-DA5DB3D3A476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67D57-D457-4EAE-BF4F-2FDE0C552E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lang="en-US" dirty="0"/>
              <a:t>APIs (Application Programming Interfaces) allow systems to communicate and exchange data.</a:t>
            </a:r>
          </a:p>
          <a:p>
            <a:pPr>
              <a:defRPr sz="1800"/>
            </a:pPr>
            <a:br>
              <a:rPr lang="en-US" dirty="0"/>
            </a:br>
            <a:r>
              <a:rPr lang="en-US" dirty="0"/>
              <a:t>Python simplifies integration via libraries like requests, </a:t>
            </a:r>
            <a:r>
              <a:rPr lang="en-US" dirty="0" err="1"/>
              <a:t>httpx</a:t>
            </a:r>
            <a:r>
              <a:rPr lang="en-US" dirty="0"/>
              <a:t>, </a:t>
            </a:r>
            <a:r>
              <a:rPr lang="en-US" dirty="0" err="1"/>
              <a:t>aiohttp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D7B2A-72A9-3D58-17BC-3567B1E6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942A3-13FF-B5DB-D9DD-936E13CD3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74CA0-A98D-0970-50C5-DE36D7963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/>
            <a:r>
              <a:rPr lang="en-US" dirty="0"/>
              <a:t>Access pre-trained models</a:t>
            </a:r>
            <a:br>
              <a:rPr lang="en-US" dirty="0"/>
            </a:br>
            <a:r>
              <a:rPr lang="en-US" dirty="0"/>
              <a:t>Automate repetitive coding tasks</a:t>
            </a:r>
            <a:br>
              <a:rPr lang="en-US" dirty="0"/>
            </a:br>
            <a:r>
              <a:rPr lang="en-US" dirty="0"/>
              <a:t>Fetch real-time data</a:t>
            </a:r>
            <a:br>
              <a:rPr lang="en-US" dirty="0"/>
            </a:br>
            <a:r>
              <a:rPr lang="en-US" dirty="0"/>
              <a:t>Integrate with AI services like translation, summarization,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08855-EE88-8DAE-9086-E72E86C81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65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7DA24-FE7E-296B-0DA7-7D3E511A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F30A1-16B6-7B72-E1C6-E0DFBBD7E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F8AEE-757A-6DBC-1966-244CD9555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lang="en-IN" dirty="0"/>
              <a:t>1. Import libraries</a:t>
            </a:r>
            <a:br>
              <a:rPr lang="en-IN" dirty="0"/>
            </a:br>
            <a:r>
              <a:rPr lang="en-IN" dirty="0"/>
              <a:t>2. Send request</a:t>
            </a:r>
            <a:br>
              <a:rPr lang="en-IN" dirty="0"/>
            </a:br>
            <a:r>
              <a:rPr lang="en-IN" dirty="0"/>
              <a:t>3. Receive response</a:t>
            </a:r>
            <a:br>
              <a:rPr lang="en-IN" dirty="0"/>
            </a:br>
            <a:r>
              <a:rPr lang="en-IN" dirty="0"/>
              <a:t>4. Parse data</a:t>
            </a:r>
            <a:br>
              <a:rPr lang="en-IN" dirty="0"/>
            </a:br>
            <a:r>
              <a:rPr lang="en-IN" dirty="0"/>
              <a:t>5. Handle errors</a:t>
            </a:r>
          </a:p>
          <a:p>
            <a:pPr>
              <a:defRPr sz="1800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B0CAA-8F85-14A3-0992-139015171B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33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E8D07-1868-5C55-486E-083894FB9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6C607-31A2-FEC1-C61F-265BF3271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782D3-8B4D-179D-6E4E-FB9FDE422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lang="en-US" dirty="0"/>
              <a:t>400 Bad Request – Invalid input</a:t>
            </a:r>
            <a:br>
              <a:rPr lang="en-US" dirty="0"/>
            </a:br>
            <a:r>
              <a:rPr lang="en-US" dirty="0"/>
              <a:t>401 Unauthorized – Invalid API key</a:t>
            </a:r>
            <a:br>
              <a:rPr lang="en-US" dirty="0"/>
            </a:br>
            <a:r>
              <a:rPr lang="en-US" dirty="0"/>
              <a:t>404 Not Found – Wrong endpoint</a:t>
            </a:r>
            <a:br>
              <a:rPr lang="en-US" dirty="0"/>
            </a:br>
            <a:r>
              <a:rPr lang="en-US" dirty="0"/>
              <a:t>500 Server Error – Server issue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D65D6-68BB-9A49-6D4C-907A26151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28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4C91A-DBCE-21FD-1F56-7113FD1BD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335D5-DA16-9012-7B59-87952F151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9CD54-EBC0-2000-8EF7-1031EECC1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lang="en-US" dirty="0"/>
              <a:t>400 Bad Request – Invalid input</a:t>
            </a:r>
            <a:br>
              <a:rPr lang="en-US" dirty="0"/>
            </a:br>
            <a:r>
              <a:rPr lang="en-US" dirty="0"/>
              <a:t>401 Unauthorized – Invalid API key</a:t>
            </a:r>
            <a:br>
              <a:rPr lang="en-US" dirty="0"/>
            </a:br>
            <a:r>
              <a:rPr lang="en-US" dirty="0"/>
              <a:t>404 Not Found – Wrong endpoint</a:t>
            </a:r>
            <a:br>
              <a:rPr lang="en-US" dirty="0"/>
            </a:br>
            <a:r>
              <a:rPr lang="en-US" dirty="0"/>
              <a:t>500 Server Error – Server issue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7B33E-EEC8-0740-A324-FD2B75C08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66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67C80-489F-7521-B106-9D2218C3B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4CD68-E59C-17FD-2C71-D176EA62A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DDD53-0012-16E0-A7C2-34B6A2B7F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lang="en-US" dirty="0"/>
              <a:t>400 Bad Request – Invalid input</a:t>
            </a:r>
            <a:br>
              <a:rPr lang="en-US" dirty="0"/>
            </a:br>
            <a:r>
              <a:rPr lang="en-US" dirty="0"/>
              <a:t>401 Unauthorized – Invalid API key</a:t>
            </a:r>
            <a:br>
              <a:rPr lang="en-US" dirty="0"/>
            </a:br>
            <a:r>
              <a:rPr lang="en-US" dirty="0"/>
              <a:t>404 Not Found – Wrong endpoint</a:t>
            </a:r>
            <a:br>
              <a:rPr lang="en-US" dirty="0"/>
            </a:br>
            <a:r>
              <a:rPr lang="en-US" dirty="0"/>
              <a:t>500 Server Error – Server issue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590AF-1376-4024-8221-47D100211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41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E15A-8ED6-8531-ACA3-5CE122589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7DFD0-D83B-EBC4-CEFB-E8BCBC290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329BF-34AB-6B7C-2221-C7471337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29E6E-63F9-4FC7-8CFE-B57C7A78BC4B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F78E-7794-F036-28F3-88211ACD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43C1D-8CA2-9094-5D87-C15A9973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8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9628-5864-D26E-C525-65E3E5BA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7314-70E0-2292-24E3-AB5D75A3E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1846E-FBFF-1E2E-99A4-BE0E4E06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0818-8EE1-434A-BBF0-6B5B0F8B399A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4DED9-C0B4-116E-2505-1DBDB66A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32EF-85F9-6967-DAF1-FD8F5653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4261-5AB7-0C17-0691-FAC080764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323B7-BFB6-CB47-54A2-D9047A013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65AF4-438B-B3E9-E401-90F0D5C0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A798-9A3B-4036-954B-2D9430223118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C8DE-9A32-A5C0-0E13-05A74F382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8E43D-0D9C-7B2E-C87D-4680F225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4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2B64-C63E-44E9-2506-8D19BCE1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2EBF-C5BF-83EF-F061-70599F4F7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F7818-064D-B14D-C27C-DBFF56D9C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98F46-BD53-3CDC-1C65-41CC5EC5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F325-7C2A-41C0-AFE6-51DB9093C165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5A4F0-E8D7-9512-2938-CC32A109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8909C-21EB-59DF-39FF-210F6306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6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6C29-DA86-6F21-8709-CCB3B948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9C9AC-3485-C255-51FE-BF2807C85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4E693-EB5D-0123-AE87-7BEAA5F8D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2530E-CA4A-F62C-C8E7-7A271E23F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2A2CC-C818-7B55-C1D7-E81B96CA0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0ADFDB-C373-CB11-8A66-84DE595D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ADB4-3FD1-4E07-A2B9-98A69C71E907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2E257-BED6-EEE0-2F86-D12E9B4C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6BED7-9CDB-5725-CB58-D080D33C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7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BB1D-580F-5132-C23E-B9CD688E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580E1-1188-F78F-DBDB-BD60F976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662F3-9D45-4AE9-AAC2-89F814DABB88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376EA-12EF-2180-D39D-32B344DD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EC9DB-DCC3-B1AB-587D-7D5D1DFE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74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57248-1ACE-B0B5-9242-19E7C147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E71-A404-4C6B-BA20-EBBC64FC893D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B83C30-0C93-9307-2564-157C4493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E16DA-E589-FA88-4D7C-103B1A6A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6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4F56-B781-88DE-B5CF-8666E168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48CB4-7C73-57F6-4C1F-6C475FF92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CB3E8-9234-B7F9-0909-B0DDAA520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25712-9136-2D26-AB91-5E8C187F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552DD-4519-4609-B804-D5D4D97D21E7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51FC2-9B9E-5567-DCBC-97BA5F12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D5149-27C1-FBF9-584D-0CDCAADD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5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ECB5-0124-E4AB-796D-4DD2001A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109C8-FE9F-0C66-9C71-8C3DDAE55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CBBC3-C85A-2A3F-441B-71C12E1B7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CC9F9-8D8B-FF83-A7D0-ECAE1A08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17FBA-9928-479F-A232-A50A482B881F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17425-9B0E-9676-ADA4-8456000A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C69FA-8AB7-BCF6-F761-4FAE3861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0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38D7-ED46-1642-DC1A-3A465BB2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E15FD-A10E-BAF8-E05C-538407F87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E2C9-0FB1-E71A-FB85-9648E018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1516C-6EE7-4F99-A3E1-1C2A5FC4A80F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025A5-BF35-212A-9794-5B9117B8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2621E-0398-079F-48B0-4E9BF4D8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0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85918-5C87-9CA6-5F8A-9772EFAB8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2CDE8-2A9D-A636-8E8E-D9BC332C9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A6C24-D833-818E-EA16-DF647970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10B26-6DF6-41E7-9E79-2F8F2A1599E8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E245-B4A4-F43F-404C-840EF95B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5E3AB-A1E1-E9C0-F70E-E74A4DF4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7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C4ECF-2932-CCE3-D471-28AEE158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F014-55A0-15E8-570C-9924061EA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C8E4-76AA-BD7E-E8F5-883744F5A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9BFC8-5C74-495F-A3BA-0D466EB87652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CE52D-3D9F-AC04-8299-E6328C65F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F1DD0-ABF1-D159-6BFD-2D7BD5284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E7C99-B088-4EBB-BFF6-BECCC96D5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0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openweathermap.org/api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C027CC2F-7B4F-AA9B-4D81-E98F83DF2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42C3F97-7163-10DB-A067-B3F1568C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6A9F-AD96-4D7B-9874-EB7A5E6B8FED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743A2CC-628E-6D6B-CB09-6DD9562D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43BD2A-3656-4EFB-EE81-1532C7D1499D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A3A666-1D60-C481-FA38-2B6816EEF98A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5B2BB8-BCBA-3DA1-A07C-DCC08FAF71AB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School of Computer Science and AI, SR University</a:t>
              </a:r>
              <a:endParaRPr lang="en-US" sz="20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1643550-BC90-31DB-C96C-291D61ED3D0D}"/>
              </a:ext>
            </a:extLst>
          </p:cNvPr>
          <p:cNvSpPr txBox="1"/>
          <p:nvPr/>
        </p:nvSpPr>
        <p:spPr>
          <a:xfrm>
            <a:off x="109909" y="3949851"/>
            <a:ext cx="5525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64F8F"/>
                </a:solidFill>
              </a:rPr>
              <a:t>Dr. Venkataramana Veeramsetty</a:t>
            </a:r>
          </a:p>
          <a:p>
            <a:r>
              <a:rPr lang="en-US" sz="2400" b="1" dirty="0">
                <a:solidFill>
                  <a:srgbClr val="164F8F"/>
                </a:solidFill>
              </a:rPr>
              <a:t>Professor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852DD20-2BA1-1097-A1A8-83E90344B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48242"/>
              </p:ext>
            </p:extLst>
          </p:nvPr>
        </p:nvGraphicFramePr>
        <p:xfrm>
          <a:off x="109910" y="1273306"/>
          <a:ext cx="605332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716">
                  <a:extLst>
                    <a:ext uri="{9D8B030D-6E8A-4147-A177-3AD203B41FA5}">
                      <a16:colId xmlns:a16="http://schemas.microsoft.com/office/drawing/2014/main" val="1381312057"/>
                    </a:ext>
                  </a:extLst>
                </a:gridCol>
                <a:gridCol w="2557995">
                  <a:extLst>
                    <a:ext uri="{9D8B030D-6E8A-4147-A177-3AD203B41FA5}">
                      <a16:colId xmlns:a16="http://schemas.microsoft.com/office/drawing/2014/main" val="242157776"/>
                    </a:ext>
                  </a:extLst>
                </a:gridCol>
                <a:gridCol w="265555">
                  <a:extLst>
                    <a:ext uri="{9D8B030D-6E8A-4147-A177-3AD203B41FA5}">
                      <a16:colId xmlns:a16="http://schemas.microsoft.com/office/drawing/2014/main" val="446022343"/>
                    </a:ext>
                  </a:extLst>
                </a:gridCol>
                <a:gridCol w="578286">
                  <a:extLst>
                    <a:ext uri="{9D8B030D-6E8A-4147-A177-3AD203B41FA5}">
                      <a16:colId xmlns:a16="http://schemas.microsoft.com/office/drawing/2014/main" val="30741803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65650034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4236025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82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</a:rPr>
                        <a:t>25CAI004PC206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AI Assisted Coding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4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rgbClr val="164F8F"/>
                          </a:solidFill>
                        </a:rPr>
                        <a:t>2</a:t>
                      </a:r>
                      <a:endParaRPr lang="en-US" b="1" dirty="0">
                        <a:solidFill>
                          <a:srgbClr val="164F8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047256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Program 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0780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9565CE-F940-4E40-840E-05DAAD5EF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351837"/>
              </p:ext>
            </p:extLst>
          </p:nvPr>
        </p:nvGraphicFramePr>
        <p:xfrm>
          <a:off x="6249563" y="1273306"/>
          <a:ext cx="2994839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4839">
                  <a:extLst>
                    <a:ext uri="{9D8B030D-6E8A-4147-A177-3AD203B41FA5}">
                      <a16:colId xmlns:a16="http://schemas.microsoft.com/office/drawing/2014/main" val="244376517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18.API Integration: Connecting to external services with error handling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5920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174C43-2445-5A44-DE5A-BF274237C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322986"/>
              </p:ext>
            </p:extLst>
          </p:nvPr>
        </p:nvGraphicFramePr>
        <p:xfrm>
          <a:off x="9338890" y="1275648"/>
          <a:ext cx="2743200" cy="128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59976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Lecture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</a:rPr>
                        <a:t> - 12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758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SQL Extensions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Connections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164F8F"/>
                          </a:solidFill>
                        </a:rPr>
                        <a:t>Queries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7406387"/>
                  </a:ext>
                </a:extLst>
              </a:tr>
            </a:tbl>
          </a:graphicData>
        </a:graphic>
      </p:graphicFrame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</p:spTree>
    <p:extLst>
      <p:ext uri="{BB962C8B-B14F-4D97-AF65-F5344CB8AC3E}">
        <p14:creationId xmlns:p14="http://schemas.microsoft.com/office/powerpoint/2010/main" val="143416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D16C-EACE-807C-AB29-6D4BBE7A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DA9BF963-A14E-0D23-3CC5-2A29AECF7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DB5567E-5927-9983-2116-CA7232D4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C1B7CF2-B14D-6BDA-CD4A-D84A5D3F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9E1E2-9AD9-535D-2D69-ACE96CF7B40B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14FCD0-21EB-628F-6257-153596366AD3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4B850F-806B-BBFF-1AF4-974F9A13EA87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1B9311-EB0F-91C5-AE6F-9C882E10B2F6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Introduction to API Integration</a:t>
              </a:r>
            </a:p>
          </p:txBody>
        </p:sp>
      </p:grp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8B23ED-876D-01CF-7101-6479E3D73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34" y="1756763"/>
            <a:ext cx="4172532" cy="44392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17B8551-C263-7D17-CEF7-5368E2DBF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083" y="1659109"/>
            <a:ext cx="6974634" cy="428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3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1E524-433E-A563-903E-217D112D9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5F92534F-098D-4FD5-BE18-CF0810041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8008920-F67E-E080-D6FD-1E8D804F6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9EA8293-23FE-68A8-3D67-A9AF335F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57EA70-C992-4BFB-AD11-0A545FCB0A4B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FB0A4EC-B72C-8FA2-AD42-71B74E0428E6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0552DC-370E-A253-5284-B49162368FEF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46D39F-5C82-E17D-C6AC-4A11EC2F5B10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Why API Integration in AI-Assisted Coding?</a:t>
              </a:r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BF87C10-274D-B86A-988C-E9F4A7A4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9366E1-22E0-182A-390E-2FB23DCED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098" y="1514208"/>
            <a:ext cx="9697803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18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5A5F-F64B-727F-C38D-7143075F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64E4C253-5477-1F0C-E613-5D0C74A8E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C32CB14-3D58-0FDE-8D20-908074E8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57CD39B-702A-9DC4-C763-6702C1D12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025E8D-D761-D551-E474-34866F0FC426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2FCE48-EC07-793B-6961-35945EBAFB98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C898BD-CE89-F804-EFC5-19222CE88E04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AD8472-ADED-D8C9-CB35-4149893BFD5D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Basic Workflow of API Integration</a:t>
              </a:r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05A07ED-C4C5-E716-F669-0181D9E83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146AEE-36D9-2AE9-DF64-5D4A86D59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283" y="1166497"/>
            <a:ext cx="8297433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34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182ED-CA65-484B-5BE8-E6F2EE574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B79C9C89-B006-7E83-166B-A860F0A5E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A412292-B607-ECD8-FB7A-C7DB2BF3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152A8CC-7A9D-041F-73A3-CDFADBBF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907013-92E8-8F99-1A57-379FC3C2E990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E13636-DB54-2A89-A2D1-B0E55E504538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F2E12AE-D15B-C79C-3176-E9725AFC7AF1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4CC30B-CE3A-80BC-B8FB-38E59D856CEB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Common API Errors</a:t>
              </a:r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1C0D1FC-AB5F-4F0B-B4D0-C7999F22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7C39B1-4BCB-8B22-CCFF-FA112652E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7535" y="1676155"/>
            <a:ext cx="8728683" cy="380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0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1AB6-0B07-E57C-E155-2656361F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55F75875-8DCF-358C-D707-956F0A9D7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80F32BA-1942-47BC-D75F-4476FBAD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94075FB-5E81-144D-7C5C-2E907A19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B2C74-D730-1173-7DFF-5B73CFB49BF1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7C6B66-09FB-D9AC-0627-4BBD83DF061E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2F97E7-3F4E-5AEB-E467-7BEDB62EC67C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CE5D49-7210-9D1E-59B5-2E713C752F6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Error Handling Techniques in Python</a:t>
              </a:r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63E5BEE-0379-F5C7-E14A-FE329AFF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AECC75-C9E0-9913-C36F-AC3730BB7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10" y="1119724"/>
            <a:ext cx="4858428" cy="2505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1D7252-9DBB-8C74-7738-B6630C6D6F57}"/>
              </a:ext>
            </a:extLst>
          </p:cNvPr>
          <p:cNvSpPr txBox="1"/>
          <p:nvPr/>
        </p:nvSpPr>
        <p:spPr>
          <a:xfrm>
            <a:off x="1351623" y="4083486"/>
            <a:ext cx="1011832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effectLst/>
                <a:latin typeface="Segoe WPC"/>
              </a:rPr>
              <a:t>The 401 Unauthorized error means that the API key you're using is either: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egoe WPC"/>
              </a:rPr>
              <a:t>Not activated yet (it can take a few hours after signup for a new API key to become active)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egoe WPC"/>
              </a:rPr>
              <a:t>Invalid or incorrect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egoe WPC"/>
              </a:rPr>
              <a:t>Has expired</a:t>
            </a:r>
          </a:p>
        </p:txBody>
      </p:sp>
    </p:spTree>
    <p:extLst>
      <p:ext uri="{BB962C8B-B14F-4D97-AF65-F5344CB8AC3E}">
        <p14:creationId xmlns:p14="http://schemas.microsoft.com/office/powerpoint/2010/main" val="2102181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96DD7-008D-8904-2F2B-F889A91B1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684561F6-C1AC-1641-12CB-A65C721D6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781876E-109E-0773-44A9-172CFC7D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14D1-DE72-476D-8447-65A714EC83A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0A5C3BB-BE21-D432-867B-B9A5790A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B83CEB-DCF6-B004-62DC-71564FC637CF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FD9577-A456-C022-7019-5C913B3B5E0F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3195DE-94B9-B81B-A537-143471ADD810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E29666-5E24-F6BE-84D0-82D4D4DCC8A1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How wo use weather API</a:t>
              </a:r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CF808CB-4D0B-20B5-09AC-6161AC3A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81D0F0-3396-C03C-26DB-BCC92F55E458}"/>
              </a:ext>
            </a:extLst>
          </p:cNvPr>
          <p:cNvSpPr txBox="1">
            <a:spLocks/>
          </p:cNvSpPr>
          <p:nvPr/>
        </p:nvSpPr>
        <p:spPr>
          <a:xfrm>
            <a:off x="408373" y="1266332"/>
            <a:ext cx="11505459" cy="103108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First, you'll need to sign up for a free API key at Open Weather Map: </a:t>
            </a:r>
            <a:r>
              <a:rPr lang="en-US">
                <a:hlinkClick r:id="rId4"/>
              </a:rPr>
              <a:t>https://openweathermap.org/api</a:t>
            </a:r>
            <a:endParaRPr lang="en-US"/>
          </a:p>
          <a:p>
            <a:endParaRPr lang="en-US"/>
          </a:p>
          <a:p>
            <a:r>
              <a:rPr lang="en-US"/>
              <a:t>Replace  your actual </a:t>
            </a:r>
            <a:r>
              <a:rPr lang="en-US" b="1"/>
              <a:t>API key  </a:t>
            </a:r>
            <a:r>
              <a:rPr lang="en-US"/>
              <a:t>in the code. And, Install the required </a:t>
            </a:r>
            <a:r>
              <a:rPr lang="en-US" b="1"/>
              <a:t>requests</a:t>
            </a:r>
            <a:r>
              <a:rPr lang="en-US"/>
              <a:t> package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135C3-1C57-BA03-E40B-3D30905DF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6800" y="2751936"/>
            <a:ext cx="6956011" cy="271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5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B0818-8EE1-434A-BBF0-6B5B0F8B399A}" type="datetime1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Venkataramana Veeramsetty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592879" y="2967335"/>
            <a:ext cx="36601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6967</TotalTime>
  <Words>384</Words>
  <Application>Microsoft Office PowerPoint</Application>
  <PresentationFormat>Widescreen</PresentationFormat>
  <Paragraphs>78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Sujoy  Saha</dc:creator>
  <cp:lastModifiedBy>venkataramana veeramsetty</cp:lastModifiedBy>
  <cp:revision>106</cp:revision>
  <dcterms:created xsi:type="dcterms:W3CDTF">2025-01-02T14:33:31Z</dcterms:created>
  <dcterms:modified xsi:type="dcterms:W3CDTF">2025-10-29T05:01:24Z</dcterms:modified>
</cp:coreProperties>
</file>